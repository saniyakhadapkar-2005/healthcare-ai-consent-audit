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Healthcare AI Consent</a:t>
            </a:r>
            <a:br/>
            <a:r>
              <a:t>&amp; Inference Audit</a:t>
            </a:r>
          </a:p>
          <a:p>
            <a:pPr>
              <a:defRPr sz="2200"/>
            </a:pPr>
            <a:r>
              <a:t>Blockchain + AI + Privacy • College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AI may process sensitive information.</a:t>
            </a:r>
          </a:p>
          <a:p>
            <a:pPr>
              <a:spcAft>
                <a:spcPts val="1200"/>
              </a:spcAft>
              <a:defRPr sz="2000"/>
            </a:pPr>
            <a:r>
              <a:t>The system must prove that an inference was performed under the correct permission.</a:t>
            </a:r>
          </a:p>
          <a:p>
            <a:pPr>
              <a:spcAft>
                <a:spcPts val="1200"/>
              </a:spcAft>
              <a:defRPr sz="2000"/>
            </a:pPr>
            <a:r>
              <a:t>We need consent scope, expiry, revocation and model-version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Patient grants consent → Provider requests inference → System validates consent → AI runs → Receipt is created → Audit trail is available.</a:t>
            </a:r>
          </a:p>
          <a:p>
            <a:pPr>
              <a:spcAft>
                <a:spcPts val="1200"/>
              </a:spcAft>
              <a:defRPr sz="2000"/>
            </a:pPr>
            <a:r>
              <a:t>Raw health data remains off-chain and the dataset is synthetic.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PATIENT — grant/revoke consent.</a:t>
            </a:r>
          </a:p>
          <a:p>
            <a:pPr>
              <a:spcAft>
                <a:spcPts val="1200"/>
              </a:spcAft>
              <a:defRPr sz="2000"/>
            </a:pPr>
            <a:r>
              <a:t>PROVIDER — run AI inference only when authorized.</a:t>
            </a:r>
          </a:p>
          <a:p>
            <a:pPr>
              <a:spcAft>
                <a:spcPts val="1200"/>
              </a:spcAft>
              <a:defRPr sz="2000"/>
            </a:pPr>
            <a:r>
              <a:t>ADMIN — register model versions and review audit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Java 21 + Spring Boot 3.5.6</a:t>
            </a:r>
          </a:p>
          <a:p>
            <a:pPr>
              <a:spcAft>
                <a:spcPts val="1200"/>
              </a:spcAft>
              <a:defRPr sz="2000"/>
            </a:pPr>
            <a:r>
              <a:t>Spring Security + JPA + H2</a:t>
            </a:r>
          </a:p>
          <a:p>
            <a:pPr>
              <a:spcAft>
                <a:spcPts val="1200"/>
              </a:spcAft>
              <a:defRPr sz="2000"/>
            </a:pPr>
            <a:r>
              <a:t>Thymeleaf + responsive HTML/CSS/JavaScript</a:t>
            </a:r>
          </a:p>
          <a:p>
            <a:pPr>
              <a:spcAft>
                <a:spcPts val="1200"/>
              </a:spcAft>
              <a:defRPr sz="2000"/>
            </a:pPr>
            <a:r>
              <a:t>Solidity 0.8.24 + Hardhat + MetaMask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Transparent, deliberately non-clinical scoring rule.</a:t>
            </a:r>
          </a:p>
          <a:p>
            <a:pPr>
              <a:spcAft>
                <a:spcPts val="1200"/>
              </a:spcAft>
              <a:defRPr sz="2000"/>
            </a:pPr>
            <a:r>
              <a:t>Age &gt; 50: +1; BP &gt; 140: +1; cholesterol &gt; 200: +1.</a:t>
            </a:r>
          </a:p>
          <a:p>
            <a:pPr>
              <a:spcAft>
                <a:spcPts val="1200"/>
              </a:spcAft>
              <a:defRPr sz="2000"/>
            </a:pPr>
            <a:r>
              <a:t>Score ≥ 2 → HIGH_SCORE; otherwise LOW_SCORE.</a:t>
            </a:r>
          </a:p>
          <a:p>
            <a:pPr>
              <a:spcAft>
                <a:spcPts val="1200"/>
              </a:spcAft>
              <a:defRPr sz="2000"/>
            </a:pPr>
            <a:r>
              <a:t>This is not a diagnosis or medical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Consent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Patient selects provider, synthetic subject, model, purpose and expiry.</a:t>
            </a:r>
          </a:p>
          <a:p>
            <a:pPr>
              <a:spcAft>
                <a:spcPts val="1200"/>
              </a:spcAft>
              <a:defRPr sz="2000"/>
            </a:pPr>
            <a:r>
              <a:t>Provider must match the consent.</a:t>
            </a:r>
          </a:p>
          <a:p>
            <a:pPr>
              <a:spcAft>
                <a:spcPts val="1200"/>
              </a:spcAft>
              <a:defRPr sz="2000"/>
            </a:pPr>
            <a:r>
              <a:t>Revoked or expired consent is rejected.</a:t>
            </a:r>
          </a:p>
          <a:p>
            <a:pPr>
              <a:spcAft>
                <a:spcPts val="1200"/>
              </a:spcAft>
              <a:defRPr sz="2000"/>
            </a:pPr>
            <a:r>
              <a:t>Wrong model or subject is rejected.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Blockchain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Smart contract: HealthcareConsentAudit.sol</a:t>
            </a:r>
          </a:p>
          <a:p>
            <a:pPr>
              <a:spcAft>
                <a:spcPts val="1200"/>
              </a:spcAft>
              <a:defRPr sz="2000"/>
            </a:pPr>
            <a:r>
              <a:t>Registers model IDs.</a:t>
            </a:r>
          </a:p>
          <a:p>
            <a:pPr>
              <a:spcAft>
                <a:spcPts val="1200"/>
              </a:spcAft>
              <a:defRPr sz="2000"/>
            </a:pPr>
            <a:r>
              <a:t>Stores consent metadata and revocation state.</a:t>
            </a:r>
          </a:p>
          <a:p>
            <a:pPr>
              <a:spcAft>
                <a:spcPts val="1200"/>
              </a:spcAft>
              <a:defRPr sz="2000"/>
            </a:pPr>
            <a:r>
              <a:t>Records inference receipt digests.</a:t>
            </a:r>
          </a:p>
          <a:p>
            <a:pPr>
              <a:spcAft>
                <a:spcPts val="1200"/>
              </a:spcAft>
              <a:defRPr sz="2000"/>
            </a:pPr>
            <a:r>
              <a:t>Does not store raw patient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consents — scoped permissions and status.</a:t>
            </a:r>
          </a:p>
          <a:p>
            <a:pPr>
              <a:spcAft>
                <a:spcPts val="1200"/>
              </a:spcAft>
              <a:defRPr sz="2000"/>
            </a:pPr>
            <a:r>
              <a:t>model_registry — model versions and digests.</a:t>
            </a:r>
          </a:p>
          <a:p>
            <a:pPr>
              <a:spcAft>
                <a:spcPts val="1200"/>
              </a:spcAft>
              <a:defRPr sz="2000"/>
            </a:pPr>
            <a:r>
              <a:t>inference_audit — receipt, output label and cryptographic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Mandatory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Patient grants MODEL_V1 consent.</a:t>
            </a:r>
          </a:p>
          <a:p>
            <a:pPr>
              <a:spcAft>
                <a:spcPts val="1200"/>
              </a:spcAft>
              <a:defRPr sz="2000"/>
            </a:pPr>
            <a:r>
              <a:t>2. Provider runs valid inference → ALLOW.</a:t>
            </a:r>
          </a:p>
          <a:p>
            <a:pPr>
              <a:spcAft>
                <a:spcPts val="1200"/>
              </a:spcAft>
              <a:defRPr sz="2000"/>
            </a:pPr>
            <a:r>
              <a:t>3. Wrong provider/model → REJECT.</a:t>
            </a:r>
          </a:p>
          <a:p>
            <a:pPr>
              <a:spcAft>
                <a:spcPts val="1200"/>
              </a:spcAft>
              <a:defRPr sz="2000"/>
            </a:pPr>
            <a:r>
              <a:t>4. Patient revokes consent.</a:t>
            </a:r>
          </a:p>
          <a:p>
            <a:pPr>
              <a:spcAft>
                <a:spcPts val="1200"/>
              </a:spcAft>
              <a:defRPr sz="2000"/>
            </a:pPr>
            <a:r>
              <a:t>5. Provider retries → REJECT.</a:t>
            </a:r>
          </a:p>
          <a:p>
            <a:pPr>
              <a:spcAft>
                <a:spcPts val="1200"/>
              </a:spcAft>
              <a:defRPr sz="2000"/>
            </a:pPr>
            <a:r>
              <a:t>6. Admin reviews models and audit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Synthetic data only.</a:t>
            </a:r>
          </a:p>
          <a:p>
            <a:pPr>
              <a:spcAft>
                <a:spcPts val="1200"/>
              </a:spcAft>
              <a:defRPr sz="2000"/>
            </a:pPr>
            <a:r>
              <a:t>Role-based access.</a:t>
            </a:r>
          </a:p>
          <a:p>
            <a:pPr>
              <a:spcAft>
                <a:spcPts val="1200"/>
              </a:spcAft>
              <a:defRPr sz="2000"/>
            </a:pPr>
            <a:r>
              <a:t>Consent checked before inference.</a:t>
            </a:r>
          </a:p>
          <a:p>
            <a:pPr>
              <a:spcAft>
                <a:spcPts val="1200"/>
              </a:spcAft>
              <a:defRPr sz="2000"/>
            </a:pPr>
            <a:r>
              <a:t>Model/output digests support integrity verification.</a:t>
            </a:r>
          </a:p>
          <a:p>
            <a:pPr>
              <a:spcAft>
                <a:spcPts val="1200"/>
              </a:spcAft>
              <a:defRPr sz="2000"/>
            </a:pPr>
            <a:r>
              <a:t>Production would need encryption, strong identity, key management and regulatory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Prototype uses local H2 and Hardhat.</a:t>
            </a:r>
          </a:p>
          <a:p>
            <a:pPr>
              <a:spcAft>
                <a:spcPts val="1200"/>
              </a:spcAft>
              <a:defRPr sz="2000"/>
            </a:pPr>
            <a:r>
              <a:t>Demo credentials are not production credentials.</a:t>
            </a:r>
          </a:p>
          <a:p>
            <a:pPr>
              <a:spcAft>
                <a:spcPts val="1200"/>
              </a:spcAft>
              <a:defRPr sz="2000"/>
            </a:pPr>
            <a:r>
              <a:t>Blockchain evidence is not by itself legal informed consent.</a:t>
            </a:r>
          </a:p>
          <a:p>
            <a:pPr>
              <a:spcAft>
                <a:spcPts val="1200"/>
              </a:spcAft>
              <a:defRPr sz="2000"/>
            </a:pPr>
            <a:r>
              <a:t>The scoring rule has no clinical validity.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demonstrates a practical consent-gated AI workflow with a database-backed application and tamper-evident blockchain audit layer.</a:t>
            </a:r>
          </a:p>
          <a:p>
            <a:pPr>
              <a:spcAft>
                <a:spcPts val="1200"/>
              </a:spcAft>
              <a:defRPr sz="2000"/>
            </a:pPr>
            <a:r>
              <a:t>It provides clear positive and negative test cases for a live college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